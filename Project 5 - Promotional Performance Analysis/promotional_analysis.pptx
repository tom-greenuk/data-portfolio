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4" d="100"/>
          <a:sy n="84" d="100"/>
        </p:scale>
        <p:origin x="629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om Green" userId="0620a03912cef444" providerId="LiveId" clId="{5478D7FF-AE7D-4766-B45F-F283A9116618}"/>
    <pc:docChg chg="custSel modSld">
      <pc:chgData name="Tom Green" userId="0620a03912cef444" providerId="LiveId" clId="{5478D7FF-AE7D-4766-B45F-F283A9116618}" dt="2026-04-26T17:48:22.526" v="37" actId="20577"/>
      <pc:docMkLst>
        <pc:docMk/>
      </pc:docMkLst>
      <pc:sldChg chg="addSp delSp modSp mod">
        <pc:chgData name="Tom Green" userId="0620a03912cef444" providerId="LiveId" clId="{5478D7FF-AE7D-4766-B45F-F283A9116618}" dt="2026-04-26T17:47:07.641" v="35" actId="1076"/>
        <pc:sldMkLst>
          <pc:docMk/>
          <pc:sldMk cId="0" sldId="259"/>
        </pc:sldMkLst>
        <pc:graphicFrameChg chg="del">
          <ac:chgData name="Tom Green" userId="0620a03912cef444" providerId="LiveId" clId="{5478D7FF-AE7D-4766-B45F-F283A9116618}" dt="2026-04-26T17:43:37.447" v="0" actId="478"/>
          <ac:graphicFrameMkLst>
            <pc:docMk/>
            <pc:sldMk cId="0" sldId="259"/>
            <ac:graphicFrameMk id="6" creationId="{00000000-0000-0000-0000-000000000000}"/>
          </ac:graphicFrameMkLst>
        </pc:graphicFrameChg>
        <pc:picChg chg="del">
          <ac:chgData name="Tom Green" userId="0620a03912cef444" providerId="LiveId" clId="{5478D7FF-AE7D-4766-B45F-F283A9116618}" dt="2026-04-26T17:44:33.606" v="7" actId="478"/>
          <ac:picMkLst>
            <pc:docMk/>
            <pc:sldMk cId="0" sldId="259"/>
            <ac:picMk id="12" creationId="{03C0D81A-690A-FFBD-1D66-E615C39A8009}"/>
          </ac:picMkLst>
        </pc:picChg>
        <pc:picChg chg="add del mod">
          <ac:chgData name="Tom Green" userId="0620a03912cef444" providerId="LiveId" clId="{5478D7FF-AE7D-4766-B45F-F283A9116618}" dt="2026-04-26T17:44:56.774" v="10" actId="478"/>
          <ac:picMkLst>
            <pc:docMk/>
            <pc:sldMk cId="0" sldId="259"/>
            <ac:picMk id="14" creationId="{E8FEDD3D-948D-5A7A-5DF7-A8B19E1EEF82}"/>
          </ac:picMkLst>
        </pc:picChg>
        <pc:picChg chg="add del mod">
          <ac:chgData name="Tom Green" userId="0620a03912cef444" providerId="LiveId" clId="{5478D7FF-AE7D-4766-B45F-F283A9116618}" dt="2026-04-26T17:45:55.249" v="17" actId="478"/>
          <ac:picMkLst>
            <pc:docMk/>
            <pc:sldMk cId="0" sldId="259"/>
            <ac:picMk id="16" creationId="{58099DE9-33DC-7E98-BDF9-F461FF765F75}"/>
          </ac:picMkLst>
        </pc:picChg>
        <pc:picChg chg="add del mod">
          <ac:chgData name="Tom Green" userId="0620a03912cef444" providerId="LiveId" clId="{5478D7FF-AE7D-4766-B45F-F283A9116618}" dt="2026-04-26T17:46:18.084" v="20" actId="478"/>
          <ac:picMkLst>
            <pc:docMk/>
            <pc:sldMk cId="0" sldId="259"/>
            <ac:picMk id="18" creationId="{5A7AA0EF-190C-96B8-EA52-AD7CE7BA7CA7}"/>
          </ac:picMkLst>
        </pc:picChg>
        <pc:picChg chg="add mod">
          <ac:chgData name="Tom Green" userId="0620a03912cef444" providerId="LiveId" clId="{5478D7FF-AE7D-4766-B45F-F283A9116618}" dt="2026-04-26T17:46:57.132" v="32" actId="14100"/>
          <ac:picMkLst>
            <pc:docMk/>
            <pc:sldMk cId="0" sldId="259"/>
            <ac:picMk id="20" creationId="{FD35A802-AFBB-C067-9EE0-D25F956553A2}"/>
          </ac:picMkLst>
        </pc:picChg>
        <pc:picChg chg="add mod">
          <ac:chgData name="Tom Green" userId="0620a03912cef444" providerId="LiveId" clId="{5478D7FF-AE7D-4766-B45F-F283A9116618}" dt="2026-04-26T17:47:07.641" v="35" actId="1076"/>
          <ac:picMkLst>
            <pc:docMk/>
            <pc:sldMk cId="0" sldId="259"/>
            <ac:picMk id="22" creationId="{E3B8F8F0-ED62-873F-4F9B-DF4985DE8CBD}"/>
          </ac:picMkLst>
        </pc:picChg>
      </pc:sldChg>
      <pc:sldChg chg="modSp mod">
        <pc:chgData name="Tom Green" userId="0620a03912cef444" providerId="LiveId" clId="{5478D7FF-AE7D-4766-B45F-F283A9116618}" dt="2026-04-26T17:48:22.526" v="37" actId="20577"/>
        <pc:sldMkLst>
          <pc:docMk/>
          <pc:sldMk cId="0" sldId="260"/>
        </pc:sldMkLst>
        <pc:spChg chg="mod">
          <ac:chgData name="Tom Green" userId="0620a03912cef444" providerId="LiveId" clId="{5478D7FF-AE7D-4766-B45F-F283A9116618}" dt="2026-04-26T17:48:22.526" v="37" actId="20577"/>
          <ac:spMkLst>
            <pc:docMk/>
            <pc:sldMk cId="0" sldId="260"/>
            <ac:spMk id="4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5029200" cy="6858000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645920"/>
            <a:ext cx="4297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</a:rPr>
              <a:t>PROMOTIONAL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2468880"/>
            <a:ext cx="4297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</a:rPr>
              <a:t>PERFORMANCE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3291840"/>
            <a:ext cx="4297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</a:rPr>
              <a:t>ANALYSIS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4251960"/>
            <a:ext cx="1097280" cy="54864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65760" y="4434840"/>
            <a:ext cx="429768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 dirty="0">
                <a:solidFill>
                  <a:srgbClr val="CADCFC"/>
                </a:solidFill>
              </a:rPr>
              <a:t>202</a:t>
            </a:r>
            <a:r>
              <a:rPr lang="en-GB" sz="1300" b="0" i="0" dirty="0">
                <a:solidFill>
                  <a:srgbClr val="CADCFC"/>
                </a:solidFill>
              </a:rPr>
              <a:t>6</a:t>
            </a:r>
            <a:r>
              <a:rPr sz="1300" b="0" i="0" dirty="0">
                <a:solidFill>
                  <a:srgbClr val="CADCFC"/>
                </a:solidFill>
              </a:rPr>
              <a:t> Annual Review  |  Retail Grocery Sector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4937760"/>
            <a:ext cx="4297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ADCFC"/>
                </a:solidFill>
              </a:rPr>
              <a:t>Prepared by: Tom Green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137160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64748B"/>
                </a:solidFill>
              </a:rPr>
              <a:t>AT A GLANCE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0" y="1920240"/>
            <a:ext cx="26517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577840" y="2057400"/>
            <a:ext cx="2468879" cy="6537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003087"/>
                </a:solidFill>
              </a:rPr>
              <a:t>£171.9K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77840" y="2633472"/>
            <a:ext cx="2468879" cy="4160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4748B"/>
                </a:solidFill>
              </a:rPr>
              <a:t>TOTAL PROMOTED REVENUE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412480" y="1920240"/>
            <a:ext cx="26517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503919" y="2057400"/>
            <a:ext cx="2468879" cy="6537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003087"/>
                </a:solidFill>
              </a:rPr>
              <a:t>34,437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19" y="2633472"/>
            <a:ext cx="2468879" cy="4160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4748B"/>
                </a:solidFill>
              </a:rPr>
              <a:t>PROMOTED TRANSACTIONS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0" y="3291840"/>
            <a:ext cx="26517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577840" y="3429000"/>
            <a:ext cx="2468879" cy="6537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003087"/>
                </a:solidFill>
              </a:rPr>
              <a:t>48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77840" y="4005072"/>
            <a:ext cx="2468879" cy="4160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4748B"/>
                </a:solidFill>
              </a:rPr>
              <a:t>TOTAL PROMOTIONS RUN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412480" y="3291840"/>
            <a:ext cx="26517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412480" y="3429000"/>
            <a:ext cx="2651759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2500" b="1" i="0" dirty="0">
                <a:solidFill>
                  <a:srgbClr val="003087"/>
                </a:solidFill>
              </a:rPr>
              <a:t>PRICE REDUCTION</a:t>
            </a:r>
            <a:endParaRPr sz="2500" b="1" i="0" dirty="0">
              <a:solidFill>
                <a:srgbClr val="003087"/>
              </a:solidFill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8503919" y="4005072"/>
            <a:ext cx="2468879" cy="4160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4748B"/>
                </a:solidFill>
              </a:rPr>
              <a:t>BEST ROI PROMOTION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0" y="4754880"/>
            <a:ext cx="6217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4748B"/>
                </a:solidFill>
              </a:rPr>
              <a:t>Promotional activity across Beverages, Snacks, Dairy, Frozen, Fresh Produce &amp; Bakery categories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KEY FINDINGS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ADCFC"/>
                </a:solidFill>
              </a:rPr>
              <a:t>What the data tells us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88720"/>
            <a:ext cx="5486400" cy="2194560"/>
          </a:xfrm>
          <a:prstGeom prst="rect">
            <a:avLst/>
          </a:prstGeom>
          <a:solidFill>
            <a:srgbClr val="E8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65760" y="1188720"/>
            <a:ext cx="73152" cy="2194560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132588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3087"/>
                </a:solidFill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3736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2E"/>
                </a:solidFill>
              </a:rPr>
              <a:t>MEAL DEAL — HIGHEST REVENUE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148840"/>
            <a:ext cx="51206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</a:rPr>
              <a:t>Meal Deal generated £45.6K in promotional revenue, making it the top performer by total sales value across all promotion types.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188720"/>
            <a:ext cx="5486400" cy="2194560"/>
          </a:xfrm>
          <a:prstGeom prst="rect">
            <a:avLst/>
          </a:prstGeom>
          <a:solidFill>
            <a:srgbClr val="E8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217920" y="1188720"/>
            <a:ext cx="73152" cy="219456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46520" y="132588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9688"/>
                </a:solidFill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173736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2E"/>
                </a:solidFill>
              </a:rPr>
              <a:t>PRICE REDUCTION — BEST ROI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2148840"/>
            <a:ext cx="51206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</a:rPr>
              <a:t>Price Reduction delivered a ROI of 5.67, meaning every £1 of discount generated £5.67 in revenue — the most efficient promotion type.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3657600"/>
            <a:ext cx="5486400" cy="2194560"/>
          </a:xfrm>
          <a:prstGeom prst="rect">
            <a:avLst/>
          </a:prstGeom>
          <a:solidFill>
            <a:srgbClr val="FDF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65760" y="3657600"/>
            <a:ext cx="73152" cy="219456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94360" y="379476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57C00"/>
                </a:solidFill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420624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2E"/>
                </a:solidFill>
              </a:rPr>
              <a:t>FROZEN — TOP RESPONDING CATEGORY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4617720"/>
            <a:ext cx="51206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</a:rPr>
              <a:t>The Frozen category generated £41.8K in promoted revenue, significantly outperforming all other categories including Beverages (£29.8K).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17920" y="3657600"/>
            <a:ext cx="5486400" cy="2194560"/>
          </a:xfrm>
          <a:prstGeom prst="rect">
            <a:avLst/>
          </a:prstGeom>
          <a:solidFill>
            <a:srgbClr val="F3E8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217920" y="3657600"/>
            <a:ext cx="73152" cy="2194560"/>
          </a:xfrm>
          <a:prstGeom prst="rect">
            <a:avLst/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446520" y="379476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7B1FA2"/>
                </a:solidFill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46520" y="420624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2E"/>
                </a:solidFill>
              </a:rPr>
              <a:t>SEASONAL PEAKS IN MAY &amp; JULY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46520" y="4617720"/>
            <a:ext cx="51206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</a:rPr>
              <a:t>Promotional revenue peaked in May and July, with a secondary surge in November and December — aligning with summer and festive trading periods.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REVENUE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ADCFC"/>
                </a:solidFill>
              </a:rPr>
              <a:t>Revenue by Promotion Type &amp; Product Category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4572000"/>
            <a:ext cx="5486400" cy="82296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11480" y="4663440"/>
            <a:ext cx="5303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💡  Meal Deal and Price Reduction together account for 57% of all promotional revenue.</a:t>
            </a:r>
          </a:p>
        </p:txBody>
      </p:sp>
      <p:sp>
        <p:nvSpPr>
          <p:cNvPr id="9" name="Rectangle 8"/>
          <p:cNvSpPr/>
          <p:nvPr/>
        </p:nvSpPr>
        <p:spPr>
          <a:xfrm>
            <a:off x="6126480" y="4572000"/>
            <a:ext cx="5760720" cy="82296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263640" y="466344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💡  Frozen category outperforms Beverages by £12K — a key opportunity for targeted promotions.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FD68EBD-4692-4FB9-17BC-589E04E060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8170" y="1504177"/>
            <a:ext cx="5466830" cy="2569486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BF10AC85-978B-877F-8BAB-8D1658D2E5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1497578"/>
            <a:ext cx="5726372" cy="274898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SEASONAL TRENDS &amp; ROI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ADCFC"/>
                </a:solidFill>
              </a:rPr>
              <a:t>When promotions work best and which deliver the greatest return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4800600"/>
            <a:ext cx="6858000" cy="77724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11480" y="4892040"/>
            <a:ext cx="6583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💡  May and July are peak months — promotional spend should be concentrated here to maximise return.</a:t>
            </a:r>
          </a:p>
        </p:txBody>
      </p:sp>
      <p:sp>
        <p:nvSpPr>
          <p:cNvPr id="9" name="Rectangle 8"/>
          <p:cNvSpPr/>
          <p:nvPr/>
        </p:nvSpPr>
        <p:spPr>
          <a:xfrm>
            <a:off x="7406640" y="4800600"/>
            <a:ext cx="4480560" cy="77724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543800" y="4892040"/>
            <a:ext cx="4206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💡  BOGOF has the lowest ROI — consider replacing with Price Reduction for better efficiency.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FD35A802-AFBB-C067-9EE0-D25F956553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417320"/>
            <a:ext cx="6858000" cy="2754650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E3B8F8F0-ED62-873F-4F9B-DF4985DE8C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6640" y="1437040"/>
            <a:ext cx="3851276" cy="33635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RECOMMENDATIONS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91440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>
                <a:solidFill>
                  <a:srgbClr val="CADCFC"/>
                </a:solidFill>
              </a:rPr>
              <a:t>Data-driven actions for 202</a:t>
            </a:r>
            <a:r>
              <a:rPr lang="en-GB" sz="1100" b="0" i="0" dirty="0">
                <a:solidFill>
                  <a:srgbClr val="CADCFC"/>
                </a:solidFill>
              </a:rPr>
              <a:t>6</a:t>
            </a:r>
            <a:r>
              <a:rPr sz="1100" b="0" i="0" dirty="0">
                <a:solidFill>
                  <a:srgbClr val="CADCFC"/>
                </a:solidFill>
              </a:rPr>
              <a:t> promotional planning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88720"/>
            <a:ext cx="5577840" cy="2286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65760" y="1188720"/>
            <a:ext cx="73152" cy="2286000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132588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3087"/>
                </a:solidFill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847088"/>
            <a:ext cx="52120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2E"/>
                </a:solidFill>
              </a:rPr>
              <a:t>PRIORITISE PRICE REDUCTION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194560"/>
            <a:ext cx="5212079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</a:rPr>
              <a:t>With the highest ROI of 5.67, Price Reduction should be the default promotional mechanic. Increase frequency and apply across high-volume categories such as Frozen and Beverages.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63640" y="1188720"/>
            <a:ext cx="5577840" cy="2286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263640" y="1188720"/>
            <a:ext cx="73152" cy="2286000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92240" y="132588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3087"/>
                </a:solidFill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1847088"/>
            <a:ext cx="52120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2E"/>
                </a:solidFill>
              </a:rPr>
              <a:t>REVIEW BOGOF STRATEGY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2194560"/>
            <a:ext cx="5212079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</a:rPr>
              <a:t>BOGOF delivers the lowest ROI at 1.2. Evaluate whether deep-discount mechanics are driving incremental volume or simply cannibalising full-price sales. Consider replacing with Multibuy.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3703320"/>
            <a:ext cx="5577840" cy="2286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65760" y="3703320"/>
            <a:ext cx="73152" cy="2286000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94360" y="384048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3087"/>
                </a:solidFill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4361688"/>
            <a:ext cx="52120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2E"/>
                </a:solidFill>
              </a:rPr>
              <a:t>CONCENTRATE SPEND IN PEAK MONTHS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4709160"/>
            <a:ext cx="5212079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</a:rPr>
              <a:t>May, July, November and December are the strongest months for promotional revenue. Align promotional calendars and budgets to front-load activity into these periods.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63640" y="3703320"/>
            <a:ext cx="5577840" cy="2286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263640" y="3703320"/>
            <a:ext cx="73152" cy="2286000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492240" y="384048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3087"/>
                </a:solidFill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4361688"/>
            <a:ext cx="52120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2E"/>
                </a:solidFill>
              </a:rPr>
              <a:t>DOUBLE DOWN ON FROZEN &amp; BEVERAGES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4709160"/>
            <a:ext cx="5212079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</a:rPr>
              <a:t>These two categories account for the highest promotional revenue. Develop category-specific promotional plans that target these first to maximise return on promotional investment.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404</Words>
  <Application>Microsoft Office PowerPoint</Application>
  <PresentationFormat>Custom</PresentationFormat>
  <Paragraphs>51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Tom Green</dc:creator>
  <cp:keywords/>
  <dc:description>generated using python-pptx</dc:description>
  <cp:lastModifiedBy>Tom Green</cp:lastModifiedBy>
  <cp:revision>2</cp:revision>
  <dcterms:created xsi:type="dcterms:W3CDTF">2013-01-27T09:14:16Z</dcterms:created>
  <dcterms:modified xsi:type="dcterms:W3CDTF">2026-04-26T17:48:31Z</dcterms:modified>
  <cp:category/>
</cp:coreProperties>
</file>